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18" r:id="rId2"/>
    <p:sldId id="257" r:id="rId3"/>
    <p:sldId id="294" r:id="rId4"/>
    <p:sldId id="300" r:id="rId5"/>
    <p:sldId id="313" r:id="rId6"/>
    <p:sldId id="314" r:id="rId7"/>
    <p:sldId id="315" r:id="rId8"/>
    <p:sldId id="316" r:id="rId9"/>
    <p:sldId id="26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7A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3" d="100"/>
          <a:sy n="103" d="100"/>
        </p:scale>
        <p:origin x="69" y="2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6CF0FEA-644E-4F06-B5DE-2C9308FA69A9}"/>
              </a:ext>
            </a:extLst>
          </p:cNvPr>
          <p:cNvGrpSpPr/>
          <p:nvPr/>
        </p:nvGrpSpPr>
        <p:grpSpPr>
          <a:xfrm>
            <a:off x="6115812" y="-7340"/>
            <a:ext cx="6076188" cy="554175"/>
            <a:chOff x="3067813" y="0"/>
            <a:chExt cx="6076188" cy="554175"/>
          </a:xfrm>
        </p:grpSpPr>
        <p:sp>
          <p:nvSpPr>
            <p:cNvPr id="7" name="object 20">
              <a:extLst>
                <a:ext uri="{FF2B5EF4-FFF2-40B4-BE49-F238E27FC236}">
                  <a16:creationId xmlns:a16="http://schemas.microsoft.com/office/drawing/2014/main" id="{D72767E1-BD02-4528-AFE1-83B7946B373C}"/>
                </a:ext>
              </a:extLst>
            </p:cNvPr>
            <p:cNvSpPr/>
            <p:nvPr/>
          </p:nvSpPr>
          <p:spPr>
            <a:xfrm>
              <a:off x="3067813" y="0"/>
              <a:ext cx="6076188" cy="539496"/>
            </a:xfrm>
            <a:custGeom>
              <a:avLst/>
              <a:gdLst/>
              <a:ahLst/>
              <a:cxnLst/>
              <a:rect l="l" t="t" r="r" b="b"/>
              <a:pathLst>
                <a:path w="6076188" h="539496">
                  <a:moveTo>
                    <a:pt x="0" y="539496"/>
                  </a:moveTo>
                  <a:lnTo>
                    <a:pt x="6076188" y="539496"/>
                  </a:lnTo>
                  <a:lnTo>
                    <a:pt x="6076188" y="0"/>
                  </a:lnTo>
                  <a:lnTo>
                    <a:pt x="0" y="0"/>
                  </a:lnTo>
                  <a:lnTo>
                    <a:pt x="0" y="539496"/>
                  </a:lnTo>
                  <a:close/>
                </a:path>
              </a:pathLst>
            </a:custGeom>
            <a:solidFill>
              <a:srgbClr val="004D94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 sz="180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59C95DB-29E2-49D2-BCBB-27E248A24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4800" y="2"/>
              <a:ext cx="1108347" cy="554173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1F4F9488-CC71-4789-A04F-B1DF9B70B3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93" y="851890"/>
            <a:ext cx="1135439" cy="10571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0D1C56-80DF-4A4F-855E-65B83EB2A7E4}"/>
              </a:ext>
            </a:extLst>
          </p:cNvPr>
          <p:cNvSpPr txBox="1"/>
          <p:nvPr/>
        </p:nvSpPr>
        <p:spPr>
          <a:xfrm>
            <a:off x="2903161" y="1339266"/>
            <a:ext cx="1135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Tw Cen MT" panose="020B0602020104020603" pitchFamily="34" charset="0"/>
              </a:rPr>
              <a:t>University </a:t>
            </a:r>
          </a:p>
          <a:p>
            <a:r>
              <a:rPr lang="en-US" sz="1800" dirty="0">
                <a:latin typeface="Tw Cen MT" panose="020B0602020104020603" pitchFamily="34" charset="0"/>
              </a:rPr>
              <a:t>of Zakho</a:t>
            </a:r>
          </a:p>
        </p:txBody>
      </p:sp>
      <p:sp>
        <p:nvSpPr>
          <p:cNvPr id="14" name="object 17">
            <a:extLst>
              <a:ext uri="{FF2B5EF4-FFF2-40B4-BE49-F238E27FC236}">
                <a16:creationId xmlns:a16="http://schemas.microsoft.com/office/drawing/2014/main" id="{4CA6CBBC-55DF-4F50-8E01-91928FC06645}"/>
              </a:ext>
            </a:extLst>
          </p:cNvPr>
          <p:cNvSpPr/>
          <p:nvPr/>
        </p:nvSpPr>
        <p:spPr>
          <a:xfrm>
            <a:off x="0" y="1962810"/>
            <a:ext cx="12192000" cy="4948978"/>
          </a:xfrm>
          <a:custGeom>
            <a:avLst/>
            <a:gdLst/>
            <a:ahLst/>
            <a:cxnLst/>
            <a:rect l="l" t="t" r="r" b="b"/>
            <a:pathLst>
              <a:path w="9144000" h="4768596">
                <a:moveTo>
                  <a:pt x="9144000" y="0"/>
                </a:moveTo>
                <a:lnTo>
                  <a:pt x="0" y="0"/>
                </a:lnTo>
                <a:lnTo>
                  <a:pt x="0" y="4768594"/>
                </a:lnTo>
                <a:lnTo>
                  <a:pt x="9144000" y="4768594"/>
                </a:lnTo>
                <a:lnTo>
                  <a:pt x="9144000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F486800-148C-4812-9060-86D3D1C05B0D}"/>
              </a:ext>
            </a:extLst>
          </p:cNvPr>
          <p:cNvGrpSpPr/>
          <p:nvPr/>
        </p:nvGrpSpPr>
        <p:grpSpPr>
          <a:xfrm>
            <a:off x="6115812" y="-7340"/>
            <a:ext cx="6076188" cy="554175"/>
            <a:chOff x="3067813" y="0"/>
            <a:chExt cx="6076188" cy="554175"/>
          </a:xfrm>
        </p:grpSpPr>
        <p:sp>
          <p:nvSpPr>
            <p:cNvPr id="16" name="object 20">
              <a:extLst>
                <a:ext uri="{FF2B5EF4-FFF2-40B4-BE49-F238E27FC236}">
                  <a16:creationId xmlns:a16="http://schemas.microsoft.com/office/drawing/2014/main" id="{1F27AD83-090B-42AD-98F7-56A85E433946}"/>
                </a:ext>
              </a:extLst>
            </p:cNvPr>
            <p:cNvSpPr/>
            <p:nvPr/>
          </p:nvSpPr>
          <p:spPr>
            <a:xfrm>
              <a:off x="3067813" y="0"/>
              <a:ext cx="6076188" cy="539496"/>
            </a:xfrm>
            <a:custGeom>
              <a:avLst/>
              <a:gdLst/>
              <a:ahLst/>
              <a:cxnLst/>
              <a:rect l="l" t="t" r="r" b="b"/>
              <a:pathLst>
                <a:path w="6076188" h="539496">
                  <a:moveTo>
                    <a:pt x="0" y="539496"/>
                  </a:moveTo>
                  <a:lnTo>
                    <a:pt x="6076188" y="539496"/>
                  </a:lnTo>
                  <a:lnTo>
                    <a:pt x="6076188" y="0"/>
                  </a:lnTo>
                  <a:lnTo>
                    <a:pt x="0" y="0"/>
                  </a:lnTo>
                  <a:lnTo>
                    <a:pt x="0" y="539496"/>
                  </a:lnTo>
                  <a:close/>
                </a:path>
              </a:pathLst>
            </a:custGeom>
            <a:solidFill>
              <a:srgbClr val="004D94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 sz="1800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164DA3D-29FD-4F6F-A880-11E41DF66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4800" y="2"/>
              <a:ext cx="1108347" cy="554173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A0E364B3-3750-4FFC-95BE-D1602AD42A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293" y="851890"/>
            <a:ext cx="1135439" cy="10571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1CB1AAB-C179-431F-B99E-647D7D74554A}"/>
              </a:ext>
            </a:extLst>
          </p:cNvPr>
          <p:cNvSpPr txBox="1"/>
          <p:nvPr/>
        </p:nvSpPr>
        <p:spPr>
          <a:xfrm>
            <a:off x="2903161" y="1339266"/>
            <a:ext cx="1135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Tw Cen MT" panose="020B0602020104020603" pitchFamily="34" charset="0"/>
              </a:rPr>
              <a:t>University </a:t>
            </a:r>
          </a:p>
          <a:p>
            <a:r>
              <a:rPr lang="en-US" sz="1800" dirty="0">
                <a:latin typeface="Tw Cen MT" panose="020B0602020104020603" pitchFamily="34" charset="0"/>
              </a:rPr>
              <a:t>of Zakho</a:t>
            </a:r>
          </a:p>
        </p:txBody>
      </p:sp>
    </p:spTree>
    <p:extLst>
      <p:ext uri="{BB962C8B-B14F-4D97-AF65-F5344CB8AC3E}">
        <p14:creationId xmlns:p14="http://schemas.microsoft.com/office/powerpoint/2010/main" val="2446091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BD033-81B5-435E-A4D7-9A3BBABFF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AAF68-364C-47F0-B144-E36489835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A9604-EBE0-47E7-B8F5-64CCEE15F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946" y="6598795"/>
            <a:ext cx="2743200" cy="264670"/>
          </a:xfrm>
          <a:prstGeom prst="rect">
            <a:avLst/>
          </a:prstGeom>
        </p:spPr>
        <p:txBody>
          <a:bodyPr/>
          <a:lstStyle/>
          <a:p>
            <a:fld id="{8738E38B-F0DB-4DF1-B8DA-D5E3AC6595F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053AA4-E420-4EE6-9D1A-7FC0FEB68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5640" y="6621022"/>
            <a:ext cx="6232306" cy="242443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C4A24-BFFA-4290-ACB9-FECDF9F582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34965"/>
            <a:ext cx="3031525" cy="242444"/>
          </a:xfrm>
        </p:spPr>
        <p:txBody>
          <a:bodyPr/>
          <a:lstStyle>
            <a:lvl1pPr algn="ctr">
              <a:defRPr/>
            </a:lvl1pPr>
          </a:lstStyle>
          <a:p>
            <a:fld id="{677D305B-5372-4068-806C-CB6190065EC0}" type="datetimeFigureOut">
              <a:rPr lang="en-US" smtClean="0"/>
              <a:t>2025/11/26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62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26662-71E5-4178-9E0E-27C350833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47561-5911-44B9-8078-F7E217947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2C5FB-7385-4BFD-82DD-C0D3E01787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621022"/>
            <a:ext cx="3014900" cy="256387"/>
          </a:xfrm>
        </p:spPr>
        <p:txBody>
          <a:bodyPr/>
          <a:lstStyle>
            <a:lvl1pPr algn="ctr">
              <a:defRPr/>
            </a:lvl1pPr>
          </a:lstStyle>
          <a:p>
            <a:fld id="{677D305B-5372-4068-806C-CB6190065EC0}" type="datetimeFigureOut">
              <a:rPr lang="en-US" smtClean="0"/>
              <a:t>2025/11/26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11405-57A3-4048-8AD8-BCC883FB2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946" y="6598795"/>
            <a:ext cx="2743200" cy="264670"/>
          </a:xfrm>
          <a:prstGeom prst="rect">
            <a:avLst/>
          </a:prstGeom>
        </p:spPr>
        <p:txBody>
          <a:bodyPr/>
          <a:lstStyle/>
          <a:p>
            <a:fld id="{8738E38B-F0DB-4DF1-B8DA-D5E3AC6595F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1E93A0D-5D61-4E0A-9533-E5AC4B345C22}"/>
              </a:ext>
            </a:extLst>
          </p:cNvPr>
          <p:cNvSpPr txBox="1">
            <a:spLocks/>
          </p:cNvSpPr>
          <p:nvPr/>
        </p:nvSpPr>
        <p:spPr>
          <a:xfrm>
            <a:off x="3105640" y="6621022"/>
            <a:ext cx="4114800" cy="242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6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49ACC60-AF4F-4C13-BF9D-B7B7BFB9F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5640" y="6621022"/>
            <a:ext cx="6232306" cy="242443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9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0A11A-D09E-4318-827C-26003948A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C5058-253D-465A-BE4A-6533162AFF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036DB-301C-46FA-B396-B09A3CF0F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0C20D-5259-4FD2-AE9F-FC2D78ED36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634965"/>
            <a:ext cx="3014900" cy="242443"/>
          </a:xfrm>
        </p:spPr>
        <p:txBody>
          <a:bodyPr/>
          <a:lstStyle>
            <a:lvl1pPr algn="ctr">
              <a:defRPr/>
            </a:lvl1pPr>
          </a:lstStyle>
          <a:p>
            <a:fld id="{677D305B-5372-4068-806C-CB6190065EC0}" type="datetimeFigureOut">
              <a:rPr lang="en-US" smtClean="0"/>
              <a:t>2025/11/26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AB1ED-BE94-4005-9B78-C05A9AA7B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946" y="6598795"/>
            <a:ext cx="2743200" cy="264670"/>
          </a:xfrm>
          <a:prstGeom prst="rect">
            <a:avLst/>
          </a:prstGeom>
        </p:spPr>
        <p:txBody>
          <a:bodyPr/>
          <a:lstStyle/>
          <a:p>
            <a:fld id="{8738E38B-F0DB-4DF1-B8DA-D5E3AC6595F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F844DE9-5895-4B61-9BB3-AE8CEBDFCC97}"/>
              </a:ext>
            </a:extLst>
          </p:cNvPr>
          <p:cNvSpPr txBox="1">
            <a:spLocks/>
          </p:cNvSpPr>
          <p:nvPr/>
        </p:nvSpPr>
        <p:spPr>
          <a:xfrm>
            <a:off x="3105640" y="6621022"/>
            <a:ext cx="4114800" cy="242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6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0B83EA0-B0F8-4F1B-A077-5814AF28B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5640" y="6621022"/>
            <a:ext cx="6232306" cy="242443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52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42CD3-8C2B-4ED2-880A-D7945BF0D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B1B7E-66C6-4EA4-B68C-23E77562B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52774-B12B-4A38-BF8C-986F4E33E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5D7EFC-75CE-4678-8571-AA3E99073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0B04D6-D49F-442B-9A62-4E0A8BF1F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53E024-B6BB-4C39-90D4-3BE6EC8D9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634965"/>
            <a:ext cx="3014900" cy="242443"/>
          </a:xfrm>
        </p:spPr>
        <p:txBody>
          <a:bodyPr/>
          <a:lstStyle>
            <a:lvl1pPr algn="ctr">
              <a:defRPr/>
            </a:lvl1pPr>
          </a:lstStyle>
          <a:p>
            <a:fld id="{677D305B-5372-4068-806C-CB6190065EC0}" type="datetimeFigureOut">
              <a:rPr lang="en-US" smtClean="0"/>
              <a:t>2025/11/26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9B6001-980F-4FB4-A34E-E542A5029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946" y="6598795"/>
            <a:ext cx="2743200" cy="264670"/>
          </a:xfrm>
          <a:prstGeom prst="rect">
            <a:avLst/>
          </a:prstGeom>
        </p:spPr>
        <p:txBody>
          <a:bodyPr/>
          <a:lstStyle/>
          <a:p>
            <a:fld id="{8738E38B-F0DB-4DF1-B8DA-D5E3AC6595F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FF5127D-EF79-42A0-915D-2C3874854DE3}"/>
              </a:ext>
            </a:extLst>
          </p:cNvPr>
          <p:cNvSpPr txBox="1">
            <a:spLocks/>
          </p:cNvSpPr>
          <p:nvPr/>
        </p:nvSpPr>
        <p:spPr>
          <a:xfrm>
            <a:off x="3105640" y="6621022"/>
            <a:ext cx="4114800" cy="242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6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FD4113D-EFC8-4712-A8D8-45B93D3F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5640" y="6621022"/>
            <a:ext cx="6232306" cy="242443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34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0C02-6A30-4168-8417-36878F3FF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AB5471-858F-4BC1-A1F0-45147A3168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634965"/>
            <a:ext cx="3014900" cy="242443"/>
          </a:xfrm>
        </p:spPr>
        <p:txBody>
          <a:bodyPr/>
          <a:lstStyle>
            <a:lvl1pPr algn="ctr">
              <a:defRPr/>
            </a:lvl1pPr>
          </a:lstStyle>
          <a:p>
            <a:fld id="{677D305B-5372-4068-806C-CB6190065EC0}" type="datetimeFigureOut">
              <a:rPr lang="en-US" smtClean="0"/>
              <a:t>2025/11/26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C5D22-83F6-4406-B9AC-A865891DF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946" y="6598795"/>
            <a:ext cx="2743200" cy="264670"/>
          </a:xfrm>
          <a:prstGeom prst="rect">
            <a:avLst/>
          </a:prstGeom>
        </p:spPr>
        <p:txBody>
          <a:bodyPr/>
          <a:lstStyle/>
          <a:p>
            <a:fld id="{8738E38B-F0DB-4DF1-B8DA-D5E3AC6595F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A884C06-62A5-48F3-9F5E-3011B5FF3389}"/>
              </a:ext>
            </a:extLst>
          </p:cNvPr>
          <p:cNvSpPr txBox="1">
            <a:spLocks/>
          </p:cNvSpPr>
          <p:nvPr/>
        </p:nvSpPr>
        <p:spPr>
          <a:xfrm>
            <a:off x="3105640" y="6621022"/>
            <a:ext cx="4114800" cy="242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6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DCDAFAF-80E6-47C4-A397-367AC55AF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5640" y="6621022"/>
            <a:ext cx="6232306" cy="242443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32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FA4B51-C4EE-445B-B2B1-33E75466B7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612739"/>
            <a:ext cx="3014900" cy="264670"/>
          </a:xfrm>
        </p:spPr>
        <p:txBody>
          <a:bodyPr/>
          <a:lstStyle>
            <a:lvl1pPr algn="ctr">
              <a:defRPr/>
            </a:lvl1pPr>
          </a:lstStyle>
          <a:p>
            <a:fld id="{677D305B-5372-4068-806C-CB6190065EC0}" type="datetimeFigureOut">
              <a:rPr lang="en-US" smtClean="0"/>
              <a:t>2025/11/26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2E462-CF58-4049-9518-FADD67427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946" y="6598795"/>
            <a:ext cx="2743200" cy="264670"/>
          </a:xfrm>
          <a:prstGeom prst="rect">
            <a:avLst/>
          </a:prstGeom>
        </p:spPr>
        <p:txBody>
          <a:bodyPr/>
          <a:lstStyle/>
          <a:p>
            <a:fld id="{8738E38B-F0DB-4DF1-B8DA-D5E3AC6595F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6B8AA-E7E0-499C-AE77-7FAF65529531}"/>
              </a:ext>
            </a:extLst>
          </p:cNvPr>
          <p:cNvSpPr txBox="1">
            <a:spLocks/>
          </p:cNvSpPr>
          <p:nvPr/>
        </p:nvSpPr>
        <p:spPr>
          <a:xfrm>
            <a:off x="3105640" y="6621022"/>
            <a:ext cx="4114800" cy="242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6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E4B3CF5-18C9-4B11-9D12-1757CC2DE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5640" y="6621022"/>
            <a:ext cx="6232306" cy="242443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148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5D71D-9FAA-4892-BBE8-88C0542DD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C099B-ADDF-4F67-A619-2CA08930F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61B94-B563-49E8-9CA6-4B0687B5B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4256E7-676E-458E-8A94-EC6CA7198C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634965"/>
            <a:ext cx="3014900" cy="242444"/>
          </a:xfrm>
        </p:spPr>
        <p:txBody>
          <a:bodyPr/>
          <a:lstStyle>
            <a:lvl1pPr algn="ctr">
              <a:defRPr/>
            </a:lvl1pPr>
          </a:lstStyle>
          <a:p>
            <a:fld id="{677D305B-5372-4068-806C-CB6190065EC0}" type="datetimeFigureOut">
              <a:rPr lang="en-US" smtClean="0"/>
              <a:t>2025/11/26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8EF90-5A70-4ED1-97F6-0E120717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946" y="6598795"/>
            <a:ext cx="2743200" cy="264670"/>
          </a:xfrm>
          <a:prstGeom prst="rect">
            <a:avLst/>
          </a:prstGeom>
        </p:spPr>
        <p:txBody>
          <a:bodyPr/>
          <a:lstStyle/>
          <a:p>
            <a:fld id="{8738E38B-F0DB-4DF1-B8DA-D5E3AC6595F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66D654A-98C2-47E0-9C60-7077C77419BA}"/>
              </a:ext>
            </a:extLst>
          </p:cNvPr>
          <p:cNvSpPr txBox="1">
            <a:spLocks/>
          </p:cNvSpPr>
          <p:nvPr/>
        </p:nvSpPr>
        <p:spPr>
          <a:xfrm>
            <a:off x="3105640" y="6621022"/>
            <a:ext cx="4114800" cy="242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6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3CF2AD8-90E1-4953-968A-055F1CC80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5640" y="6621022"/>
            <a:ext cx="6232306" cy="242443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32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6DAD-F7CC-4BEE-83C0-9666B5457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387F52-3AF9-4D50-A9C8-72B1462B10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97EBE-DD9E-4C96-93BD-7232C2D5D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37D2D-4DAE-4D24-B4EA-2D7F5BAFB4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634965"/>
            <a:ext cx="3014900" cy="242443"/>
          </a:xfrm>
        </p:spPr>
        <p:txBody>
          <a:bodyPr/>
          <a:lstStyle>
            <a:lvl1pPr algn="ctr">
              <a:defRPr/>
            </a:lvl1pPr>
          </a:lstStyle>
          <a:p>
            <a:fld id="{677D305B-5372-4068-806C-CB6190065EC0}" type="datetimeFigureOut">
              <a:rPr lang="en-US" smtClean="0"/>
              <a:t>2025/11/26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3F4C6-DC63-4D8C-9C8E-6B9D3368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946" y="6598795"/>
            <a:ext cx="2743200" cy="264670"/>
          </a:xfrm>
          <a:prstGeom prst="rect">
            <a:avLst/>
          </a:prstGeom>
        </p:spPr>
        <p:txBody>
          <a:bodyPr/>
          <a:lstStyle/>
          <a:p>
            <a:fld id="{8738E38B-F0DB-4DF1-B8DA-D5E3AC6595F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4CFB055-F465-4B5C-8BE2-D18C6228ED7A}"/>
              </a:ext>
            </a:extLst>
          </p:cNvPr>
          <p:cNvSpPr txBox="1">
            <a:spLocks/>
          </p:cNvSpPr>
          <p:nvPr/>
        </p:nvSpPr>
        <p:spPr>
          <a:xfrm>
            <a:off x="3105640" y="6621022"/>
            <a:ext cx="4114800" cy="242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6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453C5C9-0374-4463-9F5C-D45F6A2A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5640" y="6621022"/>
            <a:ext cx="6232306" cy="242443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318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D06A9-E9A1-4CBD-A22A-2CF3BE2FE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7F3D7-8F35-4857-BF14-0CEF9E9F3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D8BD7-92D9-45DB-9A3C-038DF67BC4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634965"/>
            <a:ext cx="3014900" cy="242443"/>
          </a:xfrm>
        </p:spPr>
        <p:txBody>
          <a:bodyPr/>
          <a:lstStyle>
            <a:lvl1pPr algn="ctr">
              <a:defRPr/>
            </a:lvl1pPr>
          </a:lstStyle>
          <a:p>
            <a:fld id="{677D305B-5372-4068-806C-CB6190065EC0}" type="datetimeFigureOut">
              <a:rPr lang="en-US" smtClean="0"/>
              <a:t>2025/11/26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B9CB7-982B-4A9B-9281-C9B636C84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946" y="6598795"/>
            <a:ext cx="2743200" cy="264670"/>
          </a:xfrm>
          <a:prstGeom prst="rect">
            <a:avLst/>
          </a:prstGeom>
        </p:spPr>
        <p:txBody>
          <a:bodyPr/>
          <a:lstStyle/>
          <a:p>
            <a:fld id="{8738E38B-F0DB-4DF1-B8DA-D5E3AC6595F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390E047-66EF-465F-9D4A-293B531D4D1C}"/>
              </a:ext>
            </a:extLst>
          </p:cNvPr>
          <p:cNvSpPr txBox="1">
            <a:spLocks/>
          </p:cNvSpPr>
          <p:nvPr/>
        </p:nvSpPr>
        <p:spPr>
          <a:xfrm>
            <a:off x="3105640" y="6621022"/>
            <a:ext cx="4114800" cy="242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6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156BC2D-0043-494B-8DBD-D193D277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5640" y="6621022"/>
            <a:ext cx="6232306" cy="242443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89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C4CEC5-8CF1-41AA-B93E-2AA25251E5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551BEC-B67E-4BCA-A213-D786CF255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0A8D2-59AC-4159-A49E-0D403465EB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612739"/>
            <a:ext cx="3014900" cy="264670"/>
          </a:xfrm>
        </p:spPr>
        <p:txBody>
          <a:bodyPr/>
          <a:lstStyle>
            <a:lvl1pPr algn="ctr">
              <a:defRPr/>
            </a:lvl1pPr>
          </a:lstStyle>
          <a:p>
            <a:fld id="{677D305B-5372-4068-806C-CB6190065EC0}" type="datetimeFigureOut">
              <a:rPr lang="en-US" smtClean="0"/>
              <a:t>2025/11/26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8A02D-B807-406C-981B-C8AEC1E16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946" y="6598795"/>
            <a:ext cx="2743200" cy="264670"/>
          </a:xfrm>
          <a:prstGeom prst="rect">
            <a:avLst/>
          </a:prstGeom>
        </p:spPr>
        <p:txBody>
          <a:bodyPr/>
          <a:lstStyle/>
          <a:p>
            <a:fld id="{8738E38B-F0DB-4DF1-B8DA-D5E3AC6595F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3823420-B8DD-45C2-96B0-BD86FC92AA33}"/>
              </a:ext>
            </a:extLst>
          </p:cNvPr>
          <p:cNvSpPr txBox="1">
            <a:spLocks/>
          </p:cNvSpPr>
          <p:nvPr/>
        </p:nvSpPr>
        <p:spPr>
          <a:xfrm>
            <a:off x="3105640" y="6621022"/>
            <a:ext cx="4114800" cy="242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6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168E16C-5312-47B4-B0D3-1514FE246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05640" y="6621022"/>
            <a:ext cx="6232306" cy="242443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64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3">
            <a:extLst>
              <a:ext uri="{FF2B5EF4-FFF2-40B4-BE49-F238E27FC236}">
                <a16:creationId xmlns:a16="http://schemas.microsoft.com/office/drawing/2014/main" id="{1932F00F-51FF-4BAF-B88D-2FD18760751D}"/>
              </a:ext>
            </a:extLst>
          </p:cNvPr>
          <p:cNvSpPr/>
          <p:nvPr/>
        </p:nvSpPr>
        <p:spPr>
          <a:xfrm>
            <a:off x="16625" y="6617900"/>
            <a:ext cx="3067812" cy="245364"/>
          </a:xfrm>
          <a:custGeom>
            <a:avLst/>
            <a:gdLst/>
            <a:ahLst/>
            <a:cxnLst/>
            <a:rect l="l" t="t" r="r" b="b"/>
            <a:pathLst>
              <a:path w="3067812" h="245364">
                <a:moveTo>
                  <a:pt x="0" y="245364"/>
                </a:moveTo>
                <a:lnTo>
                  <a:pt x="3067812" y="245364"/>
                </a:lnTo>
                <a:lnTo>
                  <a:pt x="3067812" y="0"/>
                </a:lnTo>
                <a:lnTo>
                  <a:pt x="0" y="0"/>
                </a:lnTo>
                <a:lnTo>
                  <a:pt x="0" y="245364"/>
                </a:lnTo>
                <a:close/>
              </a:path>
            </a:pathLst>
          </a:custGeom>
          <a:solidFill>
            <a:srgbClr val="AFAFA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8B027C-63AD-447A-B4A6-BE168BF41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097"/>
            <a:ext cx="10515600" cy="8905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7A732-3200-4EDF-AD1E-CD6237D89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60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C8AFF-B6A6-4516-B6E2-E824B27A5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275" y="6632045"/>
            <a:ext cx="1952625" cy="2453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77D305B-5372-4068-806C-CB6190065EC0}" type="datetimeFigureOut">
              <a:rPr lang="en-US" smtClean="0"/>
              <a:t>2025/11/26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4C44C-6C00-4ECC-B097-782DCC1F0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6786" y="6621022"/>
            <a:ext cx="4114800" cy="242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66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B4D79-C13D-4B9E-8448-AB0765A27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7946" y="6598795"/>
            <a:ext cx="2743200" cy="2646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66"/>
                </a:solidFill>
              </a:defRPr>
            </a:lvl1pPr>
          </a:lstStyle>
          <a:p>
            <a:fld id="{8738E38B-F0DB-4DF1-B8DA-D5E3AC6595F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bject 19">
            <a:extLst>
              <a:ext uri="{FF2B5EF4-FFF2-40B4-BE49-F238E27FC236}">
                <a16:creationId xmlns:a16="http://schemas.microsoft.com/office/drawing/2014/main" id="{7889EB0F-761C-4090-9D00-C795C5365EFA}"/>
              </a:ext>
            </a:extLst>
          </p:cNvPr>
          <p:cNvSpPr/>
          <p:nvPr/>
        </p:nvSpPr>
        <p:spPr>
          <a:xfrm>
            <a:off x="0" y="547115"/>
            <a:ext cx="11192256" cy="245363"/>
          </a:xfrm>
          <a:custGeom>
            <a:avLst/>
            <a:gdLst/>
            <a:ahLst/>
            <a:cxnLst/>
            <a:rect l="l" t="t" r="r" b="b"/>
            <a:pathLst>
              <a:path w="8144256" h="245363">
                <a:moveTo>
                  <a:pt x="0" y="245363"/>
                </a:moveTo>
                <a:lnTo>
                  <a:pt x="8144256" y="245363"/>
                </a:lnTo>
                <a:lnTo>
                  <a:pt x="8144256" y="0"/>
                </a:lnTo>
                <a:lnTo>
                  <a:pt x="0" y="0"/>
                </a:lnTo>
                <a:lnTo>
                  <a:pt x="0" y="245363"/>
                </a:lnTo>
                <a:close/>
              </a:path>
            </a:pathLst>
          </a:custGeom>
          <a:solidFill>
            <a:srgbClr val="AFAFA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21">
            <a:extLst>
              <a:ext uri="{FF2B5EF4-FFF2-40B4-BE49-F238E27FC236}">
                <a16:creationId xmlns:a16="http://schemas.microsoft.com/office/drawing/2014/main" id="{69E8FA80-4CD9-41FE-8F1D-C359E679FCE6}"/>
              </a:ext>
            </a:extLst>
          </p:cNvPr>
          <p:cNvSpPr/>
          <p:nvPr/>
        </p:nvSpPr>
        <p:spPr>
          <a:xfrm>
            <a:off x="3841790" y="0"/>
            <a:ext cx="8350210" cy="539496"/>
          </a:xfrm>
          <a:custGeom>
            <a:avLst/>
            <a:gdLst/>
            <a:ahLst/>
            <a:cxnLst/>
            <a:rect l="l" t="t" r="r" b="b"/>
            <a:pathLst>
              <a:path w="6076188" h="539496">
                <a:moveTo>
                  <a:pt x="0" y="539496"/>
                </a:moveTo>
                <a:lnTo>
                  <a:pt x="6076188" y="539496"/>
                </a:lnTo>
                <a:lnTo>
                  <a:pt x="6076188" y="0"/>
                </a:lnTo>
                <a:lnTo>
                  <a:pt x="0" y="0"/>
                </a:lnTo>
                <a:lnTo>
                  <a:pt x="0" y="539496"/>
                </a:lnTo>
                <a:close/>
              </a:path>
            </a:pathLst>
          </a:custGeom>
          <a:solidFill>
            <a:srgbClr val="004D9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21FFFB-3622-4A7C-AC24-86741454160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99" y="-7338"/>
            <a:ext cx="1108347" cy="554173"/>
          </a:xfrm>
          <a:prstGeom prst="rect">
            <a:avLst/>
          </a:prstGeom>
        </p:spPr>
      </p:pic>
      <p:sp>
        <p:nvSpPr>
          <p:cNvPr id="14" name="object 15">
            <a:extLst>
              <a:ext uri="{FF2B5EF4-FFF2-40B4-BE49-F238E27FC236}">
                <a16:creationId xmlns:a16="http://schemas.microsoft.com/office/drawing/2014/main" id="{4DCEA43D-D9CE-40B3-A108-60C63E9BC639}"/>
              </a:ext>
            </a:extLst>
          </p:cNvPr>
          <p:cNvSpPr/>
          <p:nvPr/>
        </p:nvSpPr>
        <p:spPr>
          <a:xfrm>
            <a:off x="3067812" y="6617900"/>
            <a:ext cx="9124188" cy="245364"/>
          </a:xfrm>
          <a:custGeom>
            <a:avLst/>
            <a:gdLst/>
            <a:ahLst/>
            <a:cxnLst/>
            <a:rect l="l" t="t" r="r" b="b"/>
            <a:pathLst>
              <a:path w="6076188" h="245364">
                <a:moveTo>
                  <a:pt x="0" y="245364"/>
                </a:moveTo>
                <a:lnTo>
                  <a:pt x="6076188" y="245364"/>
                </a:lnTo>
                <a:lnTo>
                  <a:pt x="6076188" y="0"/>
                </a:lnTo>
                <a:lnTo>
                  <a:pt x="0" y="0"/>
                </a:lnTo>
                <a:lnTo>
                  <a:pt x="0" y="245364"/>
                </a:lnTo>
                <a:close/>
              </a:path>
            </a:pathLst>
          </a:custGeom>
          <a:solidFill>
            <a:srgbClr val="004D9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67373E8E-296D-4C06-8561-4A489423431B}"/>
              </a:ext>
            </a:extLst>
          </p:cNvPr>
          <p:cNvSpPr/>
          <p:nvPr/>
        </p:nvSpPr>
        <p:spPr>
          <a:xfrm>
            <a:off x="16625" y="6617900"/>
            <a:ext cx="3067812" cy="245364"/>
          </a:xfrm>
          <a:custGeom>
            <a:avLst/>
            <a:gdLst/>
            <a:ahLst/>
            <a:cxnLst/>
            <a:rect l="l" t="t" r="r" b="b"/>
            <a:pathLst>
              <a:path w="3067812" h="245364">
                <a:moveTo>
                  <a:pt x="0" y="245364"/>
                </a:moveTo>
                <a:lnTo>
                  <a:pt x="3067812" y="245364"/>
                </a:lnTo>
                <a:lnTo>
                  <a:pt x="3067812" y="0"/>
                </a:lnTo>
                <a:lnTo>
                  <a:pt x="0" y="0"/>
                </a:lnTo>
                <a:lnTo>
                  <a:pt x="0" y="245364"/>
                </a:lnTo>
                <a:close/>
              </a:path>
            </a:pathLst>
          </a:custGeom>
          <a:solidFill>
            <a:srgbClr val="AFAFA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9">
            <a:extLst>
              <a:ext uri="{FF2B5EF4-FFF2-40B4-BE49-F238E27FC236}">
                <a16:creationId xmlns:a16="http://schemas.microsoft.com/office/drawing/2014/main" id="{B47FE916-E49B-4888-AFEB-673D5D2D7ED3}"/>
              </a:ext>
            </a:extLst>
          </p:cNvPr>
          <p:cNvSpPr/>
          <p:nvPr/>
        </p:nvSpPr>
        <p:spPr>
          <a:xfrm>
            <a:off x="0" y="547115"/>
            <a:ext cx="11192256" cy="245363"/>
          </a:xfrm>
          <a:custGeom>
            <a:avLst/>
            <a:gdLst/>
            <a:ahLst/>
            <a:cxnLst/>
            <a:rect l="l" t="t" r="r" b="b"/>
            <a:pathLst>
              <a:path w="8144256" h="245363">
                <a:moveTo>
                  <a:pt x="0" y="245363"/>
                </a:moveTo>
                <a:lnTo>
                  <a:pt x="8144256" y="245363"/>
                </a:lnTo>
                <a:lnTo>
                  <a:pt x="8144256" y="0"/>
                </a:lnTo>
                <a:lnTo>
                  <a:pt x="0" y="0"/>
                </a:lnTo>
                <a:lnTo>
                  <a:pt x="0" y="245363"/>
                </a:lnTo>
                <a:close/>
              </a:path>
            </a:pathLst>
          </a:custGeom>
          <a:solidFill>
            <a:srgbClr val="AFAFA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21">
            <a:extLst>
              <a:ext uri="{FF2B5EF4-FFF2-40B4-BE49-F238E27FC236}">
                <a16:creationId xmlns:a16="http://schemas.microsoft.com/office/drawing/2014/main" id="{0858631A-B828-40B8-A6BC-DDC3CF73711B}"/>
              </a:ext>
            </a:extLst>
          </p:cNvPr>
          <p:cNvSpPr/>
          <p:nvPr/>
        </p:nvSpPr>
        <p:spPr>
          <a:xfrm>
            <a:off x="3841790" y="0"/>
            <a:ext cx="8350210" cy="539496"/>
          </a:xfrm>
          <a:custGeom>
            <a:avLst/>
            <a:gdLst/>
            <a:ahLst/>
            <a:cxnLst/>
            <a:rect l="l" t="t" r="r" b="b"/>
            <a:pathLst>
              <a:path w="6076188" h="539496">
                <a:moveTo>
                  <a:pt x="0" y="539496"/>
                </a:moveTo>
                <a:lnTo>
                  <a:pt x="6076188" y="539496"/>
                </a:lnTo>
                <a:lnTo>
                  <a:pt x="6076188" y="0"/>
                </a:lnTo>
                <a:lnTo>
                  <a:pt x="0" y="0"/>
                </a:lnTo>
                <a:lnTo>
                  <a:pt x="0" y="539496"/>
                </a:lnTo>
                <a:close/>
              </a:path>
            </a:pathLst>
          </a:custGeom>
          <a:solidFill>
            <a:srgbClr val="004D9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2879E3A-E926-4231-9E15-BB16D5B715B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799" y="-7338"/>
            <a:ext cx="1108347" cy="554173"/>
          </a:xfrm>
          <a:prstGeom prst="rect">
            <a:avLst/>
          </a:prstGeom>
        </p:spPr>
      </p:pic>
      <p:sp>
        <p:nvSpPr>
          <p:cNvPr id="17" name="object 15">
            <a:extLst>
              <a:ext uri="{FF2B5EF4-FFF2-40B4-BE49-F238E27FC236}">
                <a16:creationId xmlns:a16="http://schemas.microsoft.com/office/drawing/2014/main" id="{2BEBC222-BEDF-44B7-ABBA-C36500E3BE8F}"/>
              </a:ext>
            </a:extLst>
          </p:cNvPr>
          <p:cNvSpPr/>
          <p:nvPr/>
        </p:nvSpPr>
        <p:spPr>
          <a:xfrm>
            <a:off x="3067812" y="6617900"/>
            <a:ext cx="9124188" cy="245364"/>
          </a:xfrm>
          <a:custGeom>
            <a:avLst/>
            <a:gdLst/>
            <a:ahLst/>
            <a:cxnLst/>
            <a:rect l="l" t="t" r="r" b="b"/>
            <a:pathLst>
              <a:path w="6076188" h="245364">
                <a:moveTo>
                  <a:pt x="0" y="245364"/>
                </a:moveTo>
                <a:lnTo>
                  <a:pt x="6076188" y="245364"/>
                </a:lnTo>
                <a:lnTo>
                  <a:pt x="6076188" y="0"/>
                </a:lnTo>
                <a:lnTo>
                  <a:pt x="0" y="0"/>
                </a:lnTo>
                <a:lnTo>
                  <a:pt x="0" y="245364"/>
                </a:lnTo>
                <a:close/>
              </a:path>
            </a:pathLst>
          </a:custGeom>
          <a:solidFill>
            <a:srgbClr val="004D94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6243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Tw Cen MT" panose="020B0602020104020603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w Cen MT" panose="020B0602020104020603" pitchFamily="34" charset="0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Tw Cen MT" panose="020B0602020104020603" pitchFamily="34" charset="0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2">
              <a:lumMod val="75000"/>
            </a:schemeClr>
          </a:solidFill>
          <a:latin typeface="Tw Cen MT" panose="020B0602020104020603" pitchFamily="34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75000"/>
            </a:schemeClr>
          </a:solidFill>
          <a:latin typeface="Tw Cen MT" panose="020B0602020104020603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w Cen MT" panose="020B0602020104020603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0AF2311-CF61-31DC-44E6-55E31B8DD276}"/>
              </a:ext>
            </a:extLst>
          </p:cNvPr>
          <p:cNvSpPr txBox="1">
            <a:spLocks/>
          </p:cNvSpPr>
          <p:nvPr/>
        </p:nvSpPr>
        <p:spPr>
          <a:xfrm>
            <a:off x="0" y="3169024"/>
            <a:ext cx="12192000" cy="200809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68"/>
              </a:spcBef>
            </a:pP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 </a:t>
            </a:r>
            <a:r>
              <a:rPr lang="en-US" b="1" dirty="0">
                <a:solidFill>
                  <a:srgbClr val="EAEA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Systems </a:t>
            </a:r>
            <a:br>
              <a:rPr lang="en-US" b="1" dirty="0">
                <a:solidFill>
                  <a:srgbClr val="EAEA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Lecture: </a:t>
            </a:r>
            <a:r>
              <a:rPr lang="en-US" b="1" dirty="0">
                <a:solidFill>
                  <a:srgbClr val="EAEA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EAEA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(Practical)</a:t>
            </a: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br>
              <a:rPr lang="en-US" b="1" dirty="0">
                <a:solidFill>
                  <a:srgbClr val="EAEA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</a:t>
            </a:r>
            <a:r>
              <a:rPr lang="en-US" b="1" dirty="0">
                <a:solidFill>
                  <a:srgbClr val="EAEA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2025 - 2026</a:t>
            </a:r>
            <a:br>
              <a:rPr lang="en-US" sz="2800" dirty="0">
                <a:solidFill>
                  <a:srgbClr val="EAEA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solidFill>
                <a:srgbClr val="EAEAE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7304DC-7218-9B92-D5DD-39CCCE84D522}"/>
              </a:ext>
            </a:extLst>
          </p:cNvPr>
          <p:cNvSpPr txBox="1"/>
          <p:nvPr/>
        </p:nvSpPr>
        <p:spPr>
          <a:xfrm>
            <a:off x="188257" y="6135306"/>
            <a:ext cx="72434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Lecturer: </a:t>
            </a:r>
            <a:r>
              <a:rPr lang="en-US" sz="1800" b="1" dirty="0">
                <a:solidFill>
                  <a:srgbClr val="EAEAE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Mohammed H. Ramadhan &amp; Soleen B. Mohammed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63E3CC-0723-0961-262C-47D2E0878653}"/>
              </a:ext>
            </a:extLst>
          </p:cNvPr>
          <p:cNvSpPr txBox="1"/>
          <p:nvPr/>
        </p:nvSpPr>
        <p:spPr>
          <a:xfrm>
            <a:off x="9905999" y="6042066"/>
            <a:ext cx="2026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fld id="{677D305B-5372-4068-806C-CB6190065EC0}" type="datetimeFigureOut">
              <a:rPr lang="en-US" sz="1800" b="1" smtClean="0">
                <a:solidFill>
                  <a:srgbClr val="EAEAEA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pPr algn="ctr"/>
              <a:t>2025/11/26</a:t>
            </a:fld>
            <a:endParaRPr lang="en-US" sz="1800" b="1" dirty="0">
              <a:solidFill>
                <a:srgbClr val="EAEAEA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598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Outline: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017058"/>
            <a:ext cx="10058400" cy="385203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</a:rPr>
              <a:t>MySQL UPDATE USING JOIN.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70C0"/>
                </a:solidFill>
              </a:rPr>
              <a:t>MySQL DELETE USING JOIN.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8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40AC6-2611-2027-C49E-C666A70298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612739"/>
            <a:ext cx="3014900" cy="264670"/>
          </a:xfrm>
          <a:prstGeom prst="rect">
            <a:avLst/>
          </a:prstGeom>
        </p:spPr>
        <p:txBody>
          <a:bodyPr/>
          <a:lstStyle/>
          <a:p>
            <a:fld id="{677D305B-5372-4068-806C-CB6190065EC0}" type="datetimeFigureOut">
              <a:rPr lang="en-US" smtClean="0"/>
              <a:pPr/>
              <a:t>2025/11/26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93E1274-0C3C-DEA7-3F2A-80DCAB829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946" y="6598795"/>
            <a:ext cx="2743200" cy="264670"/>
          </a:xfrm>
          <a:prstGeom prst="rect">
            <a:avLst/>
          </a:prstGeom>
        </p:spPr>
        <p:txBody>
          <a:bodyPr/>
          <a:lstStyle/>
          <a:p>
            <a:fld id="{8738E38B-F0DB-4DF1-B8DA-D5E3AC6595F4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F65A8D3-33A5-9486-5C73-288E72BDD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10753" y="6621022"/>
            <a:ext cx="6227193" cy="23697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Mohammed H. Ramadhan &amp; </a:t>
            </a:r>
            <a:r>
              <a:rPr lang="en-US" cap="none" dirty="0"/>
              <a:t>Soleen B. Mohammed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689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613" y="871541"/>
            <a:ext cx="6308387" cy="445770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MySQL UPDATE USING JOIN: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613" y="1859180"/>
            <a:ext cx="11230011" cy="412387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Update Join in MySQL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lets you </a:t>
            </a:r>
            <a:r>
              <a:rPr lang="en-US" dirty="0">
                <a:solidFill>
                  <a:srgbClr val="0070C0"/>
                </a:solidFill>
              </a:rPr>
              <a:t>update</a:t>
            </a:r>
            <a:r>
              <a:rPr lang="en-US" dirty="0"/>
              <a:t> one table using </a:t>
            </a:r>
            <a:r>
              <a:rPr lang="en-US" dirty="0">
                <a:solidFill>
                  <a:srgbClr val="0070C0"/>
                </a:solidFill>
              </a:rPr>
              <a:t>related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data</a:t>
            </a:r>
            <a:r>
              <a:rPr lang="en-US" dirty="0"/>
              <a:t> from </a:t>
            </a:r>
            <a:r>
              <a:rPr lang="en-US" dirty="0">
                <a:solidFill>
                  <a:srgbClr val="0070C0"/>
                </a:solidFill>
              </a:rPr>
              <a:t>another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table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You can use different </a:t>
            </a:r>
            <a:r>
              <a:rPr lang="en-US" dirty="0">
                <a:solidFill>
                  <a:srgbClr val="0070C0"/>
                </a:solidFill>
              </a:rPr>
              <a:t>JOIN types </a:t>
            </a:r>
            <a:r>
              <a:rPr lang="en-US" dirty="0"/>
              <a:t>depending on how the tables match: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INNER JOIN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: </a:t>
            </a:r>
            <a:r>
              <a:rPr lang="en-US" dirty="0">
                <a:solidFill>
                  <a:srgbClr val="0070C0"/>
                </a:solidFill>
              </a:rPr>
              <a:t>updates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only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rows</a:t>
            </a:r>
            <a:r>
              <a:rPr lang="en-US" dirty="0"/>
              <a:t> that have </a:t>
            </a:r>
            <a:r>
              <a:rPr lang="en-US" dirty="0">
                <a:solidFill>
                  <a:srgbClr val="0070C0"/>
                </a:solidFill>
              </a:rPr>
              <a:t>matching</a:t>
            </a:r>
            <a:r>
              <a:rPr lang="en-US" dirty="0"/>
              <a:t> records in </a:t>
            </a:r>
            <a:r>
              <a:rPr lang="en-US" dirty="0">
                <a:solidFill>
                  <a:srgbClr val="0070C0"/>
                </a:solidFill>
              </a:rPr>
              <a:t>both tables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LEFT JOIN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: </a:t>
            </a:r>
            <a:r>
              <a:rPr lang="en-US" dirty="0">
                <a:solidFill>
                  <a:srgbClr val="0070C0"/>
                </a:solidFill>
              </a:rPr>
              <a:t>updates</a:t>
            </a:r>
            <a:r>
              <a:rPr lang="en-US" dirty="0"/>
              <a:t> all rows from the left table, even if some </a:t>
            </a:r>
            <a:r>
              <a:rPr lang="en-US" dirty="0">
                <a:solidFill>
                  <a:srgbClr val="0070C0"/>
                </a:solidFill>
              </a:rPr>
              <a:t>don’t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have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matches</a:t>
            </a:r>
            <a:r>
              <a:rPr lang="en-US" dirty="0"/>
              <a:t> in the </a:t>
            </a:r>
            <a:r>
              <a:rPr lang="en-US" dirty="0">
                <a:solidFill>
                  <a:srgbClr val="0070C0"/>
                </a:solidFill>
              </a:rPr>
              <a:t>other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table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31766-0F5C-C87A-A762-87D9895B43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612739"/>
            <a:ext cx="3014900" cy="264670"/>
          </a:xfrm>
          <a:prstGeom prst="rect">
            <a:avLst/>
          </a:prstGeom>
        </p:spPr>
        <p:txBody>
          <a:bodyPr/>
          <a:lstStyle/>
          <a:p>
            <a:fld id="{677D305B-5372-4068-806C-CB6190065EC0}" type="datetimeFigureOut">
              <a:rPr lang="en-US" smtClean="0"/>
              <a:pPr/>
              <a:t>2025/11/26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E2961F8-D934-6773-9E18-FB694265D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946" y="6598795"/>
            <a:ext cx="2743200" cy="264670"/>
          </a:xfrm>
          <a:prstGeom prst="rect">
            <a:avLst/>
          </a:prstGeom>
        </p:spPr>
        <p:txBody>
          <a:bodyPr/>
          <a:lstStyle/>
          <a:p>
            <a:fld id="{8738E38B-F0DB-4DF1-B8DA-D5E3AC6595F4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A452DF3-B654-0397-9268-A25C0A40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10753" y="6621022"/>
            <a:ext cx="6227193" cy="23697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Mohammed H. Ramadhan &amp; </a:t>
            </a:r>
            <a:r>
              <a:rPr lang="en-US" cap="none" dirty="0"/>
              <a:t>Soleen B. Mohammed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028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33393" y="1408760"/>
            <a:ext cx="651470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/>
              <a:t>Syntax</a:t>
            </a:r>
            <a:r>
              <a:rPr lang="en-US" sz="2400" b="1" dirty="0"/>
              <a:t>:</a:t>
            </a:r>
          </a:p>
          <a:p>
            <a:pPr algn="just"/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altLang="en-US" sz="2800" dirty="0">
                <a:solidFill>
                  <a:srgbClr val="ABB2BF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800" dirty="0">
                <a:latin typeface="Arial Unicode MS" panose="020B0604020202020204" pitchFamily="34" charset="-128"/>
              </a:rPr>
              <a:t>table1</a:t>
            </a:r>
            <a:r>
              <a:rPr lang="en-US" altLang="en-US" sz="2800" dirty="0">
                <a:solidFill>
                  <a:schemeClr val="accent2"/>
                </a:solidFill>
                <a:latin typeface="Arial Unicode MS" panose="020B0604020202020204" pitchFamily="34" charset="-128"/>
              </a:rPr>
              <a:t> </a:t>
            </a:r>
          </a:p>
          <a:p>
            <a:pPr algn="just"/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en-US" altLang="en-US" sz="2800" dirty="0">
                <a:solidFill>
                  <a:srgbClr val="ABB2BF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800" dirty="0">
                <a:latin typeface="Arial Unicode MS" panose="020B0604020202020204" pitchFamily="34" charset="-128"/>
              </a:rPr>
              <a:t>table2</a:t>
            </a:r>
            <a:r>
              <a:rPr lang="en-US" altLang="en-US" sz="2800" dirty="0">
                <a:solidFill>
                  <a:srgbClr val="ABB2BF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altLang="en-US" sz="2800" dirty="0">
                <a:solidFill>
                  <a:srgbClr val="ABB2BF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800" dirty="0">
                <a:latin typeface="Arial Unicode MS" panose="020B0604020202020204" pitchFamily="34" charset="-128"/>
              </a:rPr>
              <a:t>condition1</a:t>
            </a:r>
            <a:r>
              <a:rPr lang="en-US" altLang="en-US" sz="2800" dirty="0">
                <a:solidFill>
                  <a:srgbClr val="ABB2BF"/>
                </a:solidFill>
                <a:latin typeface="Arial Unicode MS" panose="020B0604020202020204" pitchFamily="34" charset="-128"/>
              </a:rPr>
              <a:t> </a:t>
            </a:r>
          </a:p>
          <a:p>
            <a:pPr algn="just"/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altLang="en-US" sz="2800" dirty="0">
                <a:solidFill>
                  <a:srgbClr val="ABB2BF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800" dirty="0">
                <a:latin typeface="Arial Unicode MS" panose="020B0604020202020204" pitchFamily="34" charset="-128"/>
              </a:rPr>
              <a:t>table1.column =</a:t>
            </a:r>
            <a:r>
              <a:rPr lang="en-US" altLang="en-US" sz="2800" dirty="0">
                <a:solidFill>
                  <a:srgbClr val="ABB2BF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altLang="en-US" sz="2800" dirty="0">
                <a:latin typeface="Arial Unicode MS" panose="020B0604020202020204" pitchFamily="34" charset="-128"/>
              </a:rPr>
              <a:t>;</a:t>
            </a:r>
          </a:p>
          <a:p>
            <a:pPr algn="just"/>
            <a:endParaRPr lang="en-US" altLang="en-US" sz="2400" dirty="0"/>
          </a:p>
          <a:p>
            <a:r>
              <a:rPr lang="en-US" altLang="en-US" sz="2800" b="1" dirty="0"/>
              <a:t>Example for Inner join:</a:t>
            </a:r>
            <a:br>
              <a:rPr lang="en-US" altLang="en-US" sz="2800" b="1" dirty="0"/>
            </a:br>
            <a:r>
              <a:rPr lang="en-US" altLang="en-US" sz="15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Goal:</a:t>
            </a:r>
            <a:r>
              <a:rPr lang="en-US" altLang="en-US" sz="1500" b="1" dirty="0"/>
              <a:t> Increase salary by 10% for members who are assigned to a project.</a:t>
            </a:r>
          </a:p>
          <a:p>
            <a:endParaRPr lang="en-US" altLang="en-US" sz="1500" b="1" dirty="0"/>
          </a:p>
          <a:p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altLang="en-US" sz="2800" b="1" dirty="0"/>
              <a:t> member m </a:t>
            </a:r>
          </a:p>
          <a:p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 JOIN </a:t>
            </a:r>
            <a:r>
              <a:rPr lang="en-US" altLang="en-US" sz="2800" b="1" dirty="0"/>
              <a:t>project p </a:t>
            </a:r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altLang="en-US" sz="2800" b="1" dirty="0"/>
              <a:t> </a:t>
            </a:r>
          </a:p>
          <a:p>
            <a:r>
              <a:rPr lang="en-US" altLang="en-US" sz="2800" b="1" dirty="0" err="1"/>
              <a:t>m.project_id</a:t>
            </a:r>
            <a:r>
              <a:rPr lang="en-US" altLang="en-US" sz="2800" b="1" dirty="0"/>
              <a:t> </a:t>
            </a:r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800" b="1" dirty="0"/>
              <a:t> p.id </a:t>
            </a:r>
          </a:p>
          <a:p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m.salary</a:t>
            </a:r>
            <a:r>
              <a:rPr lang="en-US" altLang="en-US" sz="2800" b="1" dirty="0"/>
              <a:t> </a:t>
            </a:r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m.salary</a:t>
            </a:r>
            <a:r>
              <a:rPr lang="en-US" altLang="en-US" sz="2800" b="1" dirty="0"/>
              <a:t> + </a:t>
            </a:r>
            <a:r>
              <a:rPr lang="en-US" altLang="en-US" sz="2800" b="1" dirty="0" err="1"/>
              <a:t>m.salary</a:t>
            </a:r>
            <a:r>
              <a:rPr lang="en-US" altLang="en-US" sz="2800" b="1" dirty="0"/>
              <a:t> * 0.10;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E8DFFC5-DB37-8083-A282-9D42D6ADCE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612739"/>
            <a:ext cx="3014900" cy="264670"/>
          </a:xfrm>
          <a:prstGeom prst="rect">
            <a:avLst/>
          </a:prstGeom>
        </p:spPr>
        <p:txBody>
          <a:bodyPr/>
          <a:lstStyle/>
          <a:p>
            <a:fld id="{677D305B-5372-4068-806C-CB6190065EC0}" type="datetimeFigureOut">
              <a:rPr lang="en-US" smtClean="0"/>
              <a:pPr/>
              <a:t>2025/11/26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49B26-1072-F3DE-67CA-17D4CC34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946" y="6598795"/>
            <a:ext cx="2743200" cy="264670"/>
          </a:xfrm>
          <a:prstGeom prst="rect">
            <a:avLst/>
          </a:prstGeom>
        </p:spPr>
        <p:txBody>
          <a:bodyPr/>
          <a:lstStyle/>
          <a:p>
            <a:fld id="{8738E38B-F0DB-4DF1-B8DA-D5E3AC6595F4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57F063B-5F03-B059-AB6C-5C1AADA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10753" y="6621022"/>
            <a:ext cx="6227193" cy="23697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Mohammed H. Ramadhan &amp; </a:t>
            </a:r>
            <a:r>
              <a:rPr lang="en-US" cap="none" dirty="0"/>
              <a:t>Soleen B. Mohammed 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D3001E1-A37A-950D-F041-86F044673D0C}"/>
              </a:ext>
            </a:extLst>
          </p:cNvPr>
          <p:cNvSpPr txBox="1">
            <a:spLocks/>
          </p:cNvSpPr>
          <p:nvPr/>
        </p:nvSpPr>
        <p:spPr>
          <a:xfrm>
            <a:off x="569069" y="690569"/>
            <a:ext cx="6308387" cy="64211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MySQL UPDATE USING JOIN: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FA8FDD-42B4-020D-36AD-E59355101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761271"/>
              </p:ext>
            </p:extLst>
          </p:nvPr>
        </p:nvGraphicFramePr>
        <p:xfrm>
          <a:off x="7332339" y="3653940"/>
          <a:ext cx="303096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Project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Project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F644CD1-315C-FBDD-3D37-773ED77C7EA5}"/>
              </a:ext>
            </a:extLst>
          </p:cNvPr>
          <p:cNvSpPr txBox="1"/>
          <p:nvPr/>
        </p:nvSpPr>
        <p:spPr>
          <a:xfrm>
            <a:off x="7332339" y="1406523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member</a:t>
            </a:r>
            <a:r>
              <a:rPr lang="en-US" dirty="0"/>
              <a:t>: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974F0A7-E211-D5F4-0A02-049C06B0F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216123"/>
              </p:ext>
            </p:extLst>
          </p:nvPr>
        </p:nvGraphicFramePr>
        <p:xfrm>
          <a:off x="7332338" y="1775855"/>
          <a:ext cx="473138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3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project_id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Ali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500,000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Sara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600,000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Jasim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550,000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3C88FA8-EC5F-C5CE-D027-BF32C5B5EDE7}"/>
              </a:ext>
            </a:extLst>
          </p:cNvPr>
          <p:cNvSpPr txBox="1"/>
          <p:nvPr/>
        </p:nvSpPr>
        <p:spPr>
          <a:xfrm>
            <a:off x="7332338" y="3335287"/>
            <a:ext cx="92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Project: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FD7A75-2C75-4296-BCCF-CF33333B9BAB}"/>
              </a:ext>
            </a:extLst>
          </p:cNvPr>
          <p:cNvSpPr txBox="1"/>
          <p:nvPr/>
        </p:nvSpPr>
        <p:spPr>
          <a:xfrm>
            <a:off x="7367558" y="4827543"/>
            <a:ext cx="2621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member: (After Updated</a:t>
            </a:r>
            <a:r>
              <a:rPr lang="en-US" dirty="0"/>
              <a:t>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CF5F8FF-7EE0-9744-B59B-E9069CEB6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606536"/>
              </p:ext>
            </p:extLst>
          </p:nvPr>
        </p:nvGraphicFramePr>
        <p:xfrm>
          <a:off x="7349760" y="5251722"/>
          <a:ext cx="4731386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3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37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project_id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37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Ali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550,000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373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Sara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16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373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Jasim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550,000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3884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90664" y="1486128"/>
            <a:ext cx="6308387" cy="5024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sz="2800" b="1" dirty="0"/>
              <a:t>Example for Left join:</a:t>
            </a:r>
          </a:p>
          <a:p>
            <a:pPr algn="just"/>
            <a:r>
              <a:rPr lang="en-US" sz="2400" b="1" dirty="0"/>
              <a:t>Syntax</a:t>
            </a:r>
            <a:r>
              <a:rPr lang="en-US" sz="2000" b="1" dirty="0"/>
              <a:t>:</a:t>
            </a:r>
          </a:p>
          <a:p>
            <a:pPr algn="just"/>
            <a:r>
              <a:rPr lang="en-US" altLang="en-US" sz="24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altLang="en-US" sz="2400" dirty="0">
                <a:solidFill>
                  <a:srgbClr val="ABB2BF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400" dirty="0">
                <a:latin typeface="Arial Unicode MS" panose="020B0604020202020204" pitchFamily="34" charset="-128"/>
              </a:rPr>
              <a:t>table1</a:t>
            </a:r>
            <a:r>
              <a:rPr lang="en-US" altLang="en-US" sz="2400" dirty="0">
                <a:solidFill>
                  <a:schemeClr val="accent2"/>
                </a:solidFill>
                <a:latin typeface="Arial Unicode MS" panose="020B0604020202020204" pitchFamily="34" charset="-128"/>
              </a:rPr>
              <a:t> </a:t>
            </a:r>
          </a:p>
          <a:p>
            <a:pPr algn="just"/>
            <a:r>
              <a:rPr lang="en-US" altLang="en-US" sz="24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en-US" altLang="en-US" sz="2400" dirty="0">
                <a:solidFill>
                  <a:srgbClr val="ABB2BF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400" dirty="0">
                <a:latin typeface="Arial Unicode MS" panose="020B0604020202020204" pitchFamily="34" charset="-128"/>
              </a:rPr>
              <a:t>table2</a:t>
            </a:r>
            <a:r>
              <a:rPr lang="en-US" altLang="en-US" sz="2400" dirty="0">
                <a:solidFill>
                  <a:srgbClr val="ABB2BF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4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altLang="en-US" sz="2400" dirty="0">
                <a:solidFill>
                  <a:srgbClr val="ABB2BF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400" dirty="0">
                <a:latin typeface="Arial Unicode MS" panose="020B0604020202020204" pitchFamily="34" charset="-128"/>
              </a:rPr>
              <a:t>condition1</a:t>
            </a:r>
            <a:r>
              <a:rPr lang="en-US" altLang="en-US" sz="2400" dirty="0">
                <a:solidFill>
                  <a:srgbClr val="ABB2BF"/>
                </a:solidFill>
                <a:latin typeface="Arial Unicode MS" panose="020B0604020202020204" pitchFamily="34" charset="-128"/>
              </a:rPr>
              <a:t> </a:t>
            </a:r>
          </a:p>
          <a:p>
            <a:pPr algn="just"/>
            <a:r>
              <a:rPr lang="en-US" altLang="en-US" sz="24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altLang="en-US" sz="2400" dirty="0">
                <a:solidFill>
                  <a:srgbClr val="ABB2BF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400" dirty="0">
                <a:latin typeface="Arial Unicode MS" panose="020B0604020202020204" pitchFamily="34" charset="-128"/>
              </a:rPr>
              <a:t>table1.column =</a:t>
            </a:r>
            <a:r>
              <a:rPr lang="en-US" altLang="en-US" sz="2400" dirty="0">
                <a:solidFill>
                  <a:srgbClr val="ABB2BF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24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altLang="en-US" sz="2400" dirty="0">
                <a:latin typeface="Arial Unicode MS" panose="020B0604020202020204" pitchFamily="34" charset="-128"/>
              </a:rPr>
              <a:t>;</a:t>
            </a:r>
          </a:p>
          <a:p>
            <a:pPr algn="just"/>
            <a:endParaRPr lang="en-US" altLang="en-US" sz="1000" dirty="0">
              <a:latin typeface="Arial Unicode MS" panose="020B0604020202020204" pitchFamily="34" charset="-128"/>
            </a:endParaRPr>
          </a:p>
          <a:p>
            <a:pPr lvl="0"/>
            <a:r>
              <a:rPr lang="en-US" altLang="en-US" sz="2800" b="1" dirty="0">
                <a:solidFill>
                  <a:prstClr val="black"/>
                </a:solidFill>
              </a:rPr>
              <a:t>Example for Left join:</a:t>
            </a:r>
            <a:br>
              <a:rPr lang="en-US" altLang="en-US" sz="2800" b="1" dirty="0">
                <a:solidFill>
                  <a:prstClr val="black"/>
                </a:solidFill>
              </a:rPr>
            </a:br>
            <a:r>
              <a:rPr lang="en-US" altLang="en-US" sz="15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Goal:</a:t>
            </a:r>
            <a:r>
              <a:rPr lang="en-US" altLang="en-US" sz="1500" b="1" dirty="0">
                <a:solidFill>
                  <a:prstClr val="black"/>
                </a:solidFill>
              </a:rPr>
              <a:t> Give a fixed bonus to members who are not assigned to any project.</a:t>
            </a:r>
          </a:p>
          <a:p>
            <a:pPr lvl="0"/>
            <a:endParaRPr lang="en-US" altLang="en-US" sz="1100" dirty="0">
              <a:latin typeface="Arial Unicode MS" panose="020B0604020202020204" pitchFamily="34" charset="-128"/>
            </a:endParaRPr>
          </a:p>
          <a:p>
            <a:r>
              <a:rPr lang="en-US" altLang="en-US" sz="265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en-US" altLang="en-US" sz="2650" b="1" dirty="0"/>
              <a:t>member</a:t>
            </a:r>
            <a:r>
              <a:rPr lang="en-US" altLang="en-US" sz="265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650" b="1" dirty="0"/>
              <a:t>m</a:t>
            </a:r>
            <a:r>
              <a:rPr lang="en-US" altLang="en-US" sz="265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en-US" sz="265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 JOIN </a:t>
            </a:r>
            <a:r>
              <a:rPr lang="en-US" altLang="en-US" sz="2650" b="1" dirty="0"/>
              <a:t>project p </a:t>
            </a:r>
          </a:p>
          <a:p>
            <a:r>
              <a:rPr lang="en-US" altLang="en-US" sz="265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altLang="en-US" sz="2650" b="1" dirty="0"/>
              <a:t> m.project_id </a:t>
            </a:r>
            <a:r>
              <a:rPr lang="en-US" altLang="en-US" sz="265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650" b="1" dirty="0"/>
              <a:t> p.id </a:t>
            </a:r>
          </a:p>
          <a:p>
            <a:r>
              <a:rPr lang="en-US" altLang="en-US" sz="265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  <a:r>
              <a:rPr lang="en-US" altLang="en-US" sz="2650" b="1" dirty="0" err="1"/>
              <a:t>m.salary</a:t>
            </a:r>
            <a:r>
              <a:rPr lang="en-US" altLang="en-US" sz="2650" b="1" dirty="0"/>
              <a:t> </a:t>
            </a:r>
            <a:r>
              <a:rPr lang="en-US" altLang="en-US" sz="265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650" b="1" dirty="0"/>
              <a:t> </a:t>
            </a:r>
            <a:r>
              <a:rPr lang="en-US" altLang="en-US" sz="2650" b="1" dirty="0" err="1"/>
              <a:t>m.salary</a:t>
            </a:r>
            <a:r>
              <a:rPr lang="en-US" altLang="en-US" sz="2650" b="1" dirty="0"/>
              <a:t> </a:t>
            </a:r>
            <a:r>
              <a:rPr lang="en-US" altLang="en-US" sz="265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altLang="en-US" sz="2650" b="1" dirty="0"/>
              <a:t> </a:t>
            </a:r>
            <a:r>
              <a:rPr lang="en-US" altLang="en-US" sz="2650" b="1" dirty="0">
                <a:solidFill>
                  <a:srgbClr val="FF0000"/>
                </a:solidFill>
              </a:rPr>
              <a:t>25000</a:t>
            </a:r>
          </a:p>
          <a:p>
            <a:r>
              <a:rPr lang="en-US" altLang="en-US" sz="265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 sz="2650" b="1" dirty="0"/>
              <a:t> p.id </a:t>
            </a:r>
            <a:r>
              <a:rPr lang="en-US" altLang="en-US" sz="265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650" b="1" dirty="0"/>
              <a:t> </a:t>
            </a:r>
            <a:r>
              <a:rPr lang="en-US" altLang="en-US" sz="265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en-US" sz="2650" b="1" dirty="0"/>
              <a:t>;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4C3F7A-6D26-F6C8-8858-5B8AEEF27A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612739"/>
            <a:ext cx="3014900" cy="264670"/>
          </a:xfrm>
          <a:prstGeom prst="rect">
            <a:avLst/>
          </a:prstGeom>
        </p:spPr>
        <p:txBody>
          <a:bodyPr/>
          <a:lstStyle/>
          <a:p>
            <a:fld id="{677D305B-5372-4068-806C-CB6190065EC0}" type="datetimeFigureOut">
              <a:rPr lang="en-US" smtClean="0"/>
              <a:pPr/>
              <a:t>2025/11/26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108BEE9-C97B-1853-1790-3FB94B117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946" y="6598795"/>
            <a:ext cx="2743200" cy="264670"/>
          </a:xfrm>
          <a:prstGeom prst="rect">
            <a:avLst/>
          </a:prstGeom>
        </p:spPr>
        <p:txBody>
          <a:bodyPr/>
          <a:lstStyle/>
          <a:p>
            <a:fld id="{8738E38B-F0DB-4DF1-B8DA-D5E3AC6595F4}" type="slidenum">
              <a:rPr lang="en-US" smtClean="0"/>
              <a:t>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764AF7E-86E7-C890-7D1A-367C5E1E9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10753" y="6621022"/>
            <a:ext cx="6227193" cy="23697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Mohammed H. Ramadhan &amp; </a:t>
            </a:r>
            <a:r>
              <a:rPr lang="en-US" cap="none" dirty="0"/>
              <a:t>Soleen B. Mohammed 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18B7514-D8B6-3C17-A5E0-EA73958AAE40}"/>
              </a:ext>
            </a:extLst>
          </p:cNvPr>
          <p:cNvSpPr txBox="1">
            <a:spLocks/>
          </p:cNvSpPr>
          <p:nvPr/>
        </p:nvSpPr>
        <p:spPr>
          <a:xfrm>
            <a:off x="569069" y="690569"/>
            <a:ext cx="6308387" cy="64211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4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MySQL UPDATE USING JOIN: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637508-C68E-6163-3DB8-67937D07D07E}"/>
              </a:ext>
            </a:extLst>
          </p:cNvPr>
          <p:cNvSpPr txBox="1"/>
          <p:nvPr/>
        </p:nvSpPr>
        <p:spPr>
          <a:xfrm>
            <a:off x="7350136" y="4842310"/>
            <a:ext cx="2621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member: (After Updated</a:t>
            </a:r>
            <a:r>
              <a:rPr lang="en-US" dirty="0"/>
              <a:t>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77A336-06B6-C149-22D7-674584F67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740720"/>
              </p:ext>
            </p:extLst>
          </p:nvPr>
        </p:nvGraphicFramePr>
        <p:xfrm>
          <a:off x="7332338" y="5266489"/>
          <a:ext cx="4731386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3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337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project_id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37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Ali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373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Sara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1600" b="1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37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Jasim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</a:rPr>
                        <a:t>575,000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14FFD11-73FF-4FE7-5920-5494534F0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147584"/>
              </p:ext>
            </p:extLst>
          </p:nvPr>
        </p:nvGraphicFramePr>
        <p:xfrm>
          <a:off x="7332339" y="3653940"/>
          <a:ext cx="303096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Project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Project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EEDA071-B573-54B9-9E8C-EEA40AB8307D}"/>
              </a:ext>
            </a:extLst>
          </p:cNvPr>
          <p:cNvSpPr txBox="1"/>
          <p:nvPr/>
        </p:nvSpPr>
        <p:spPr>
          <a:xfrm>
            <a:off x="7332339" y="1406523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member</a:t>
            </a:r>
            <a:r>
              <a:rPr lang="en-US" dirty="0"/>
              <a:t>: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4AD6294-4B36-6290-8850-BD8C32267A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83108"/>
              </p:ext>
            </p:extLst>
          </p:nvPr>
        </p:nvGraphicFramePr>
        <p:xfrm>
          <a:off x="7332338" y="1775855"/>
          <a:ext cx="473138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3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project_id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Ali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  <a:effectLst/>
                        </a:rPr>
                        <a:t>550,000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Sara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  <a:effectLst/>
                        </a:rPr>
                        <a:t>660,000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Jasim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550,000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56F43C91-64C7-87F8-0509-89F00754BBB2}"/>
              </a:ext>
            </a:extLst>
          </p:cNvPr>
          <p:cNvSpPr txBox="1"/>
          <p:nvPr/>
        </p:nvSpPr>
        <p:spPr>
          <a:xfrm>
            <a:off x="7332338" y="3335287"/>
            <a:ext cx="92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95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23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charRg st="23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charRg st="23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charRg st="23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31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charRg st="31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charRg st="31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charRg st="31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46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charRg st="46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charRg st="46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charRg st="46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73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charRg st="73" end="1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charRg st="73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charRg st="73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101" end="1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charRg st="101" end="1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charRg st="101" end="19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charRg st="101" end="19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209" y="790233"/>
            <a:ext cx="10403789" cy="527868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MySQL DELETE USING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209" y="1624519"/>
            <a:ext cx="11108415" cy="392997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The </a:t>
            </a:r>
            <a:r>
              <a:rPr lang="en-US" sz="2400" b="1" dirty="0">
                <a:solidFill>
                  <a:schemeClr val="tx1"/>
                </a:solidFill>
              </a:rPr>
              <a:t>DELETE</a:t>
            </a:r>
            <a:r>
              <a:rPr lang="en-US" sz="2400" dirty="0">
                <a:solidFill>
                  <a:schemeClr val="tx1"/>
                </a:solidFill>
              </a:rPr>
              <a:t> with </a:t>
            </a:r>
            <a:r>
              <a:rPr lang="en-US" sz="2400" b="1" dirty="0">
                <a:solidFill>
                  <a:schemeClr val="tx1"/>
                </a:solidFill>
              </a:rPr>
              <a:t>JOIN</a:t>
            </a:r>
            <a:r>
              <a:rPr lang="en-US" sz="2400" dirty="0">
                <a:solidFill>
                  <a:schemeClr val="tx1"/>
                </a:solidFill>
              </a:rPr>
              <a:t> operation is useful when we need to delete data from one table based on the values in another table.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algn="just"/>
            <a:r>
              <a:rPr lang="en-US" sz="2800" b="1" dirty="0">
                <a:solidFill>
                  <a:schemeClr val="tx1"/>
                </a:solidFill>
              </a:rPr>
              <a:t>Syntax</a:t>
            </a:r>
            <a:r>
              <a:rPr lang="en-US" sz="2400" b="1" dirty="0"/>
              <a:t>:</a:t>
            </a:r>
          </a:p>
          <a:p>
            <a:pPr marL="0" indent="0" algn="just">
              <a:buNone/>
            </a:pPr>
            <a:r>
              <a:rPr lang="en-US" altLang="en-US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altLang="en-US" dirty="0">
                <a:solidFill>
                  <a:srgbClr val="F92672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dirty="0">
                <a:latin typeface="Arial Unicode MS" panose="020B0604020202020204" pitchFamily="34" charset="-128"/>
              </a:rPr>
              <a:t>table1</a:t>
            </a:r>
            <a:r>
              <a:rPr lang="en-US" altLang="en-US" dirty="0">
                <a:solidFill>
                  <a:schemeClr val="accent2"/>
                </a:solidFill>
                <a:latin typeface="Arial Unicode MS" panose="020B0604020202020204" pitchFamily="34" charset="-128"/>
              </a:rPr>
              <a:t> </a:t>
            </a:r>
          </a:p>
          <a:p>
            <a:pPr marL="0" indent="0" algn="just">
              <a:buNone/>
            </a:pPr>
            <a:r>
              <a:rPr lang="en-US" altLang="en-US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altLang="en-US" dirty="0">
                <a:solidFill>
                  <a:schemeClr val="accent2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dirty="0">
                <a:latin typeface="Arial Unicode MS" panose="020B0604020202020204" pitchFamily="34" charset="-128"/>
              </a:rPr>
              <a:t>table1</a:t>
            </a:r>
            <a:r>
              <a:rPr lang="en-US" altLang="en-US" dirty="0">
                <a:solidFill>
                  <a:schemeClr val="accent2"/>
                </a:solidFill>
                <a:latin typeface="Arial Unicode MS" panose="020B0604020202020204" pitchFamily="34" charset="-128"/>
              </a:rPr>
              <a:t> </a:t>
            </a:r>
          </a:p>
          <a:p>
            <a:pPr marL="0" indent="0" algn="just">
              <a:buNone/>
            </a:pPr>
            <a:r>
              <a:rPr lang="en-US" altLang="en-US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en-US" altLang="en-US" dirty="0">
                <a:solidFill>
                  <a:srgbClr val="ABB2BF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dirty="0">
                <a:latin typeface="Arial Unicode MS" panose="020B0604020202020204" pitchFamily="34" charset="-128"/>
              </a:rPr>
              <a:t>table2</a:t>
            </a:r>
            <a:r>
              <a:rPr lang="en-US" altLang="en-US" dirty="0">
                <a:solidFill>
                  <a:srgbClr val="ABB2BF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altLang="en-US" dirty="0">
                <a:solidFill>
                  <a:srgbClr val="ABB2BF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dirty="0">
                <a:latin typeface="Arial Unicode MS" panose="020B0604020202020204" pitchFamily="34" charset="-128"/>
              </a:rPr>
              <a:t>table1.column </a:t>
            </a:r>
            <a:r>
              <a:rPr lang="en-US" altLang="en-US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dirty="0">
                <a:solidFill>
                  <a:schemeClr val="accent2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dirty="0">
                <a:latin typeface="Arial Unicode MS" panose="020B0604020202020204" pitchFamily="34" charset="-128"/>
              </a:rPr>
              <a:t>table2.column</a:t>
            </a:r>
          </a:p>
          <a:p>
            <a:pPr marL="0" indent="0" algn="just">
              <a:buNone/>
            </a:pPr>
            <a:r>
              <a:rPr lang="en-US" altLang="en-US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 dirty="0">
                <a:solidFill>
                  <a:srgbClr val="ABB2BF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dirty="0">
                <a:latin typeface="Arial Unicode MS" panose="020B0604020202020204" pitchFamily="34" charset="-128"/>
              </a:rPr>
              <a:t>condition; </a:t>
            </a:r>
            <a:endParaRPr lang="en-US" dirty="0">
              <a:latin typeface="Arial Unicode MS" panose="020B0604020202020204" pitchFamily="34" charset="-128"/>
            </a:endParaRPr>
          </a:p>
          <a:p>
            <a:pPr algn="just"/>
            <a:endParaRPr lang="en-US" sz="2400" dirty="0">
              <a:solidFill>
                <a:schemeClr val="tx1"/>
              </a:solidFill>
            </a:endParaRPr>
          </a:p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FB058-E1EC-5881-3376-778CE11DF5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612739"/>
            <a:ext cx="3014900" cy="264670"/>
          </a:xfrm>
          <a:prstGeom prst="rect">
            <a:avLst/>
          </a:prstGeom>
        </p:spPr>
        <p:txBody>
          <a:bodyPr/>
          <a:lstStyle/>
          <a:p>
            <a:fld id="{677D305B-5372-4068-806C-CB6190065EC0}" type="datetimeFigureOut">
              <a:rPr lang="en-US" smtClean="0"/>
              <a:pPr/>
              <a:t>2025/11/26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9C3A35-7713-7B3D-21C1-E5F319DB7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946" y="6598795"/>
            <a:ext cx="2743200" cy="264670"/>
          </a:xfrm>
          <a:prstGeom prst="rect">
            <a:avLst/>
          </a:prstGeom>
        </p:spPr>
        <p:txBody>
          <a:bodyPr/>
          <a:lstStyle/>
          <a:p>
            <a:fld id="{8738E38B-F0DB-4DF1-B8DA-D5E3AC6595F4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12CE1FC-B468-E025-E750-D0329DEAC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10753" y="6621022"/>
            <a:ext cx="6227193" cy="23697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Mohammed H. Ramadhan &amp; </a:t>
            </a:r>
            <a:r>
              <a:rPr lang="en-US" cap="none" dirty="0"/>
              <a:t>Soleen B. Mohammed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8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118DC-8054-5F01-28AB-FC60A39CD3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612739"/>
            <a:ext cx="3014900" cy="264670"/>
          </a:xfrm>
          <a:prstGeom prst="rect">
            <a:avLst/>
          </a:prstGeom>
        </p:spPr>
        <p:txBody>
          <a:bodyPr/>
          <a:lstStyle/>
          <a:p>
            <a:fld id="{677D305B-5372-4068-806C-CB6190065EC0}" type="datetimeFigureOut">
              <a:rPr lang="en-US" smtClean="0"/>
              <a:pPr/>
              <a:t>2025/11/26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1A64CDD-06F5-1AC5-6F8F-40F8F740E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946" y="6598795"/>
            <a:ext cx="2743200" cy="264670"/>
          </a:xfrm>
          <a:prstGeom prst="rect">
            <a:avLst/>
          </a:prstGeom>
        </p:spPr>
        <p:txBody>
          <a:bodyPr/>
          <a:lstStyle/>
          <a:p>
            <a:fld id="{8738E38B-F0DB-4DF1-B8DA-D5E3AC6595F4}" type="slidenum">
              <a:rPr lang="en-US" smtClean="0"/>
              <a:t>7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6407CF38-39B5-9125-0E6C-3F6260E8E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10753" y="6621022"/>
            <a:ext cx="6227193" cy="23697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Mohammed H. Ramadhan &amp; </a:t>
            </a:r>
            <a:r>
              <a:rPr lang="en-US" cap="none" dirty="0"/>
              <a:t>Soleen B. Mohammed 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C96F5E1-A119-E81E-3425-986BA4127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660" y="790233"/>
            <a:ext cx="10491338" cy="527868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MySQL DELETE USING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A15836-97EB-44A8-A8B4-4C16375632B6}"/>
              </a:ext>
            </a:extLst>
          </p:cNvPr>
          <p:cNvSpPr/>
          <p:nvPr/>
        </p:nvSpPr>
        <p:spPr>
          <a:xfrm>
            <a:off x="690663" y="1486128"/>
            <a:ext cx="630890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prstClr val="black"/>
                </a:solidFill>
              </a:rPr>
              <a:t>Example for INNER JOIN:</a:t>
            </a:r>
            <a:br>
              <a:rPr lang="en-US" altLang="en-US" sz="2800" b="1" dirty="0">
                <a:solidFill>
                  <a:prstClr val="black"/>
                </a:solidFill>
              </a:rPr>
            </a:br>
            <a:r>
              <a:rPr lang="en-US" altLang="en-US" sz="24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Goal:</a:t>
            </a:r>
            <a:r>
              <a:rPr lang="en-US" altLang="en-US" sz="2400" b="1" dirty="0"/>
              <a:t> </a:t>
            </a:r>
            <a:r>
              <a:rPr lang="en-US" sz="2400" b="1" dirty="0"/>
              <a:t>Delete members assigned to “Project A”</a:t>
            </a:r>
            <a:r>
              <a:rPr lang="en-US" altLang="en-US" sz="2000" b="1" dirty="0">
                <a:solidFill>
                  <a:prstClr val="black"/>
                </a:solidFill>
              </a:rPr>
              <a:t>.</a:t>
            </a:r>
          </a:p>
          <a:p>
            <a:pPr lvl="0"/>
            <a:endParaRPr lang="en-US" altLang="en-US" sz="2400" dirty="0">
              <a:latin typeface="Arial Unicode MS" panose="020B0604020202020204" pitchFamily="34" charset="-128"/>
            </a:endParaRPr>
          </a:p>
          <a:p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</a:t>
            </a:r>
            <a:r>
              <a:rPr lang="en-US" altLang="en-US" sz="2800" b="1" dirty="0"/>
              <a:t>m</a:t>
            </a:r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altLang="en-US" sz="2800" b="1" dirty="0"/>
              <a:t>member m </a:t>
            </a:r>
          </a:p>
          <a:p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INNER JOIN </a:t>
            </a:r>
            <a:r>
              <a:rPr lang="en-US" altLang="en-US" sz="2800" b="1" dirty="0"/>
              <a:t>project p</a:t>
            </a:r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 </a:t>
            </a:r>
            <a:r>
              <a:rPr lang="en-US" altLang="en-US" sz="2800" b="1" dirty="0"/>
              <a:t>m.project_id </a:t>
            </a:r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800" b="1" dirty="0"/>
              <a:t> p.id </a:t>
            </a:r>
          </a:p>
          <a:p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 sz="2800" b="1" dirty="0"/>
              <a:t> p.name </a:t>
            </a:r>
            <a:r>
              <a:rPr lang="en-US" altLang="en-US" sz="28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800" b="1" dirty="0"/>
              <a:t> 'Project A';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B86B23-482A-5D36-8734-3DDBAD81BD8A}"/>
              </a:ext>
            </a:extLst>
          </p:cNvPr>
          <p:cNvSpPr txBox="1"/>
          <p:nvPr/>
        </p:nvSpPr>
        <p:spPr>
          <a:xfrm>
            <a:off x="7349761" y="4751892"/>
            <a:ext cx="2543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member: (After Deleted</a:t>
            </a:r>
            <a:r>
              <a:rPr lang="en-US" dirty="0"/>
              <a:t>)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F3DA75F-9FA4-28CA-D7D6-A86C7961D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906087"/>
              </p:ext>
            </p:extLst>
          </p:nvPr>
        </p:nvGraphicFramePr>
        <p:xfrm>
          <a:off x="7349760" y="5121224"/>
          <a:ext cx="473138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3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project_id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Sara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660,000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Jasim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575,000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15A32E6-186A-5EE7-3733-ED87224BB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858161"/>
              </p:ext>
            </p:extLst>
          </p:nvPr>
        </p:nvGraphicFramePr>
        <p:xfrm>
          <a:off x="7332339" y="3653940"/>
          <a:ext cx="303096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Project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Project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5233C706-79EE-7EE1-D25D-E25C1A2713BB}"/>
              </a:ext>
            </a:extLst>
          </p:cNvPr>
          <p:cNvSpPr txBox="1"/>
          <p:nvPr/>
        </p:nvSpPr>
        <p:spPr>
          <a:xfrm>
            <a:off x="7332339" y="1406523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member</a:t>
            </a:r>
            <a:r>
              <a:rPr lang="en-US" dirty="0"/>
              <a:t>: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2818CE7-CD59-734F-3265-1687E72FA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972689"/>
              </p:ext>
            </p:extLst>
          </p:nvPr>
        </p:nvGraphicFramePr>
        <p:xfrm>
          <a:off x="7332338" y="1775855"/>
          <a:ext cx="473138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3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project_id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Ali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2"/>
                          </a:solidFill>
                          <a:effectLst/>
                        </a:rPr>
                        <a:t>550,000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Sara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Jasim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1800" b="1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8B6652CF-D14D-B1CA-878C-B21B3FA488EE}"/>
              </a:ext>
            </a:extLst>
          </p:cNvPr>
          <p:cNvSpPr txBox="1"/>
          <p:nvPr/>
        </p:nvSpPr>
        <p:spPr>
          <a:xfrm>
            <a:off x="7332338" y="3335287"/>
            <a:ext cx="92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84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12756-D66D-DFAE-6BAE-8EF1301000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612739"/>
            <a:ext cx="3014900" cy="264670"/>
          </a:xfrm>
          <a:prstGeom prst="rect">
            <a:avLst/>
          </a:prstGeom>
        </p:spPr>
        <p:txBody>
          <a:bodyPr/>
          <a:lstStyle/>
          <a:p>
            <a:fld id="{677D305B-5372-4068-806C-CB6190065EC0}" type="datetimeFigureOut">
              <a:rPr lang="en-US" smtClean="0"/>
              <a:pPr/>
              <a:t>2025/11/26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43AEE3-F6DD-9B22-4694-4B905335A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946" y="6598795"/>
            <a:ext cx="2743200" cy="264670"/>
          </a:xfrm>
          <a:prstGeom prst="rect">
            <a:avLst/>
          </a:prstGeom>
        </p:spPr>
        <p:txBody>
          <a:bodyPr/>
          <a:lstStyle/>
          <a:p>
            <a:fld id="{8738E38B-F0DB-4DF1-B8DA-D5E3AC6595F4}" type="slidenum">
              <a:rPr lang="en-US" smtClean="0"/>
              <a:t>8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BA3B584-2CC9-56D7-996C-9297E0F0D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10753" y="6621022"/>
            <a:ext cx="6227193" cy="23697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Mohammed H. Ramadhan &amp; </a:t>
            </a:r>
            <a:r>
              <a:rPr lang="en-US" cap="none" dirty="0"/>
              <a:t>Soleen B. Mohammed 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32FEE77-2E8E-12CA-176C-22DD0F386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660" y="790233"/>
            <a:ext cx="10491338" cy="527868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MySQL DELETE USING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94CFB5-527B-56AA-49BC-D7309D4DC642}"/>
              </a:ext>
            </a:extLst>
          </p:cNvPr>
          <p:cNvSpPr/>
          <p:nvPr/>
        </p:nvSpPr>
        <p:spPr>
          <a:xfrm>
            <a:off x="690663" y="1486128"/>
            <a:ext cx="6659096" cy="26622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prstClr val="black"/>
                </a:solidFill>
              </a:rPr>
              <a:t>Example for LEFT JOIN:</a:t>
            </a:r>
            <a:br>
              <a:rPr lang="en-US" altLang="en-US" sz="2800" b="1" dirty="0">
                <a:solidFill>
                  <a:prstClr val="black"/>
                </a:solidFill>
              </a:rPr>
            </a:br>
            <a:r>
              <a:rPr lang="en-US" altLang="en-US" sz="19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Goal:</a:t>
            </a:r>
            <a:r>
              <a:rPr lang="en-US" altLang="en-US" sz="1900" b="1" dirty="0">
                <a:solidFill>
                  <a:prstClr val="black"/>
                </a:solidFill>
              </a:rPr>
              <a:t> </a:t>
            </a:r>
            <a:r>
              <a:rPr lang="en-US" sz="1900" b="1" dirty="0"/>
              <a:t>Delete members who are not assigned to any project.</a:t>
            </a:r>
            <a:endParaRPr lang="en-US" altLang="en-US" sz="1900" b="1" dirty="0">
              <a:solidFill>
                <a:prstClr val="black"/>
              </a:solidFill>
            </a:endParaRPr>
          </a:p>
          <a:p>
            <a:pPr lvl="0"/>
            <a:endParaRPr lang="en-US" altLang="en-US" sz="1600" dirty="0">
              <a:latin typeface="Arial Unicode MS" panose="020B0604020202020204" pitchFamily="34" charset="-128"/>
            </a:endParaRPr>
          </a:p>
          <a:p>
            <a:r>
              <a:rPr lang="en-US" altLang="en-US" sz="26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altLang="en-US" sz="2600" b="1" dirty="0"/>
              <a:t> m</a:t>
            </a:r>
            <a:r>
              <a:rPr lang="en-US" altLang="en-US" sz="26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en-US" sz="26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altLang="en-US" sz="2600" b="1" dirty="0"/>
              <a:t> member m </a:t>
            </a:r>
          </a:p>
          <a:p>
            <a:r>
              <a:rPr lang="en-US" altLang="en-US" sz="26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</a:t>
            </a:r>
            <a:r>
              <a:rPr lang="en-US" altLang="en-US" sz="2600" b="1" dirty="0"/>
              <a:t> </a:t>
            </a:r>
            <a:r>
              <a:rPr lang="en-US" altLang="en-US" sz="26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en-US" altLang="en-US" sz="2600" b="1" dirty="0"/>
              <a:t> project p </a:t>
            </a:r>
            <a:r>
              <a:rPr lang="en-US" altLang="en-US" sz="26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altLang="en-US" sz="2600" b="1" dirty="0"/>
              <a:t> m.project_id </a:t>
            </a:r>
            <a:r>
              <a:rPr lang="en-US" altLang="en-US" sz="26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en-US" sz="2600" b="1" dirty="0"/>
              <a:t> p.id </a:t>
            </a:r>
          </a:p>
          <a:p>
            <a:r>
              <a:rPr lang="en-US" altLang="en-US" sz="26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 sz="2600" b="1" dirty="0"/>
              <a:t> p.id </a:t>
            </a:r>
            <a:r>
              <a:rPr lang="en-US" altLang="en-US" sz="26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en-US" altLang="en-US" sz="2600" b="1" dirty="0"/>
              <a:t> </a:t>
            </a:r>
            <a:r>
              <a:rPr lang="en-US" altLang="en-US" sz="2600" b="1" dirty="0">
                <a:solidFill>
                  <a:srgbClr val="99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altLang="en-US" sz="2600" b="1" dirty="0"/>
              <a:t>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F65E10-3247-554F-3EF1-F16F32A5DBB3}"/>
              </a:ext>
            </a:extLst>
          </p:cNvPr>
          <p:cNvSpPr txBox="1"/>
          <p:nvPr/>
        </p:nvSpPr>
        <p:spPr>
          <a:xfrm>
            <a:off x="7349760" y="4776198"/>
            <a:ext cx="2543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member: (After Deleted</a:t>
            </a:r>
            <a:r>
              <a:rPr lang="en-US" dirty="0"/>
              <a:t>)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FDE6224-B6D2-3729-E0DB-43CDEF981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562190"/>
              </p:ext>
            </p:extLst>
          </p:nvPr>
        </p:nvGraphicFramePr>
        <p:xfrm>
          <a:off x="7349759" y="5145530"/>
          <a:ext cx="473138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3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project_id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Sara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660,000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AEB78AF-56FB-391C-2A5E-E0AF31551288}"/>
              </a:ext>
            </a:extLst>
          </p:cNvPr>
          <p:cNvSpPr txBox="1"/>
          <p:nvPr/>
        </p:nvSpPr>
        <p:spPr>
          <a:xfrm>
            <a:off x="7349761" y="1585768"/>
            <a:ext cx="2543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member: (After Deleted</a:t>
            </a:r>
            <a:r>
              <a:rPr lang="en-US" dirty="0"/>
              <a:t>)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EC1609B-E9DE-ACD7-BD3A-A3B75D272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846391"/>
              </p:ext>
            </p:extLst>
          </p:nvPr>
        </p:nvGraphicFramePr>
        <p:xfrm>
          <a:off x="7349760" y="1955100"/>
          <a:ext cx="473138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34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salary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project_id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Sara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660,000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Jasim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575,000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46D5499-3B29-9725-B841-CC45D7215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181114"/>
              </p:ext>
            </p:extLst>
          </p:nvPr>
        </p:nvGraphicFramePr>
        <p:xfrm>
          <a:off x="7349761" y="3425428"/>
          <a:ext cx="303096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0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Project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Project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388D398-D9BE-A1DD-FFD8-1ED64119A7FE}"/>
              </a:ext>
            </a:extLst>
          </p:cNvPr>
          <p:cNvSpPr txBox="1"/>
          <p:nvPr/>
        </p:nvSpPr>
        <p:spPr>
          <a:xfrm>
            <a:off x="7349760" y="3106775"/>
            <a:ext cx="92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Project: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13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A41C5F2-2CCF-223E-A5D5-6BDC14EC5E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6612739"/>
            <a:ext cx="3014900" cy="264670"/>
          </a:xfrm>
          <a:prstGeom prst="rect">
            <a:avLst/>
          </a:prstGeom>
        </p:spPr>
        <p:txBody>
          <a:bodyPr/>
          <a:lstStyle/>
          <a:p>
            <a:fld id="{677D305B-5372-4068-806C-CB6190065EC0}" type="datetimeFigureOut">
              <a:rPr lang="en-US" smtClean="0"/>
              <a:pPr/>
              <a:t>2025/11/26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24E0C44-D45D-2258-6C62-3714EFC8D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946" y="6598795"/>
            <a:ext cx="2743200" cy="264670"/>
          </a:xfrm>
          <a:prstGeom prst="rect">
            <a:avLst/>
          </a:prstGeom>
        </p:spPr>
        <p:txBody>
          <a:bodyPr/>
          <a:lstStyle/>
          <a:p>
            <a:fld id="{8738E38B-F0DB-4DF1-B8DA-D5E3AC6595F4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B1FBF55-F0DA-94EC-6E0D-EFC369B26F61}"/>
              </a:ext>
            </a:extLst>
          </p:cNvPr>
          <p:cNvSpPr txBox="1">
            <a:spLocks/>
          </p:cNvSpPr>
          <p:nvPr/>
        </p:nvSpPr>
        <p:spPr>
          <a:xfrm>
            <a:off x="0" y="800097"/>
            <a:ext cx="12192000" cy="567242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>
                    <a:lumMod val="75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1500" b="1" dirty="0">
                <a:solidFill>
                  <a:schemeClr val="tx1"/>
                </a:solidFill>
              </a:rPr>
              <a:t>Any Question</a:t>
            </a:r>
          </a:p>
          <a:p>
            <a:pPr algn="ctr"/>
            <a:r>
              <a:rPr lang="en-US" sz="28800" b="1" i="1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820364A-86AC-CD34-FCA6-6DD2F295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10753" y="6621022"/>
            <a:ext cx="6227193" cy="23697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Mohammed H. Ramadhan &amp; </a:t>
            </a:r>
            <a:r>
              <a:rPr lang="en-US" cap="none" dirty="0"/>
              <a:t>Soleen B. Mohammed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07666"/>
      </p:ext>
    </p:extLst>
  </p:cSld>
  <p:clrMapOvr>
    <a:masterClrMapping/>
  </p:clrMapOvr>
</p:sld>
</file>

<file path=ppt/theme/theme1.xml><?xml version="1.0" encoding="utf-8"?>
<a:theme xmlns:a="http://schemas.openxmlformats.org/drawingml/2006/main" name="uoz_t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oz_tem" id="{F4B0CCCA-34DF-4DE6-B2E1-6FB746A7D623}" vid="{EE5CAA9C-EB13-471F-B469-28B9CFAFA2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Practical LAB_6</Template>
  <TotalTime>8518</TotalTime>
  <Words>711</Words>
  <Application>Microsoft Office PowerPoint</Application>
  <PresentationFormat>Widescreen</PresentationFormat>
  <Paragraphs>234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Unicode MS</vt:lpstr>
      <vt:lpstr>Calibri</vt:lpstr>
      <vt:lpstr>Courier New</vt:lpstr>
      <vt:lpstr>Times New Roman</vt:lpstr>
      <vt:lpstr>Tw Cen MT</vt:lpstr>
      <vt:lpstr>Wingdings</vt:lpstr>
      <vt:lpstr>uoz_tem</vt:lpstr>
      <vt:lpstr>PowerPoint Presentation</vt:lpstr>
      <vt:lpstr>Outline:</vt:lpstr>
      <vt:lpstr>MySQL UPDATE USING JOIN:</vt:lpstr>
      <vt:lpstr>PowerPoint Presentation</vt:lpstr>
      <vt:lpstr>PowerPoint Presentation</vt:lpstr>
      <vt:lpstr>MySQL DELETE USING JOIN:</vt:lpstr>
      <vt:lpstr>MySQL DELETE USING JOIN:</vt:lpstr>
      <vt:lpstr>MySQL DELETE USING JOIN: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 (practical) Lec1</dc:title>
  <dc:creator>lenovo</dc:creator>
  <cp:lastModifiedBy>Mohammad Hassan</cp:lastModifiedBy>
  <cp:revision>173</cp:revision>
  <dcterms:created xsi:type="dcterms:W3CDTF">2023-09-27T09:41:40Z</dcterms:created>
  <dcterms:modified xsi:type="dcterms:W3CDTF">2025-11-26T19:13:15Z</dcterms:modified>
</cp:coreProperties>
</file>